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999" cy="6858000" type="screen16x9"/>
  <p:notesSz cx="6858000" cy="9144000"/>
  <p:defaultTextStyle>
    <a:defPPr>
      <a:defRPr lang="fr-FR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/Relationships>
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lvl1pPr>
        <a:defRPr sz="22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03-dashboard-recipes.jpeg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01-signup.jpeg"/>
<Relationship Id="rId3" Type="http://schemas.openxmlformats.org/officeDocument/2006/relationships/image" Target="../media/02-login.jpeg"/>
<Relationship Id="rId4" Type="http://schemas.openxmlformats.org/officeDocument/2006/relationships/image" Target="../media/03-dashboard-recipes.jpeg"/>
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03-dashboard-recipes.jpeg"/>
</Relationships>
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05-create-recipe.jpeg"/>
</Relationships>
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04-favorites.jpeg"/>
</Relationships>
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FFE3D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85800" y="868680"/>
            <a:ext cx="576072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3800" b="1">
                <a:solidFill>
                  <a:srgbClr val="182026"/>
                </a:solidFill>
                <a:latin typeface="Aptos"/>
              </a:rPr>
              <a:t>Recipe Clean App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13232" y="1664208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800" b="1">
                <a:solidFill>
                  <a:srgbClr val="FF6B35"/>
                </a:solidFill>
                <a:latin typeface="Aptos"/>
              </a:rPr>
              <a:t>Application mobile de recettes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13232" y="2148840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500" b="0">
                <a:solidFill>
                  <a:srgbClr val="5F6B73"/>
                </a:solidFill>
                <a:latin typeface="Aptos"/>
              </a:rPr>
              <a:t>Flutter • Firebase • Riverpod • Clean Architecture</a:t>
            </a:r>
          </a:p>
        </p:txBody>
      </p:sp>
      <p:sp>
        <p:nvSpPr>
          <p:cNvPr id="7" name="Shape 7"/>
          <p:cNvSpPr/>
          <p:nvPr/>
        </p:nvSpPr>
        <p:spPr>
          <a:xfrm>
            <a:off x="713232" y="2971800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914400" y="3136392"/>
            <a:ext cx="4946903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Objectif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14400" y="3538728"/>
            <a:ext cx="4946903" cy="4480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Présenter une application complète : authentification, recettes, recherche, favoris et persistance cloud.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13232" y="59893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300" b="1">
                <a:solidFill>
                  <a:srgbClr val="5F6B73"/>
                </a:solidFill>
                <a:latin typeface="Aptos"/>
              </a:rPr>
              <a:t>JeeriDev</a:t>
            </a:r>
          </a:p>
        </p:txBody>
      </p:sp>
      <p:pic>
        <p:nvPicPr>
          <p:cNvPr id="11" name="03-dashboard-recipes.jpeg" descr="03-dashboard-recip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749808"/>
            <a:ext cx="236450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92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000" b="1">
                <a:solidFill>
                  <a:srgbClr val="FF6B35"/>
                </a:solidFill>
                <a:latin typeface="Aptos"/>
              </a:rPr>
              <a:t>CONTEXTE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3000" b="1">
                <a:solidFill>
                  <a:srgbClr val="182026"/>
                </a:solidFill>
                <a:latin typeface="Aptos"/>
              </a:rPr>
              <a:t>Pourquoi cette application ?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11430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400" b="0">
                <a:solidFill>
                  <a:srgbClr val="5F6B73"/>
                </a:solidFill>
                <a:latin typeface="Aptos"/>
              </a:rPr>
              <a:t>Une expérience mobile simple pour organiser, retrouver et sauvegarder des recettes.</a:t>
            </a:r>
          </a:p>
        </p:txBody>
      </p:sp>
      <p:sp>
        <p:nvSpPr>
          <p:cNvPr id="5" name="Shape 5"/>
          <p:cNvSpPr/>
          <p:nvPr/>
        </p:nvSpPr>
        <p:spPr>
          <a:xfrm>
            <a:off x="594360" y="182880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95528" y="1993392"/>
            <a:ext cx="302666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Problème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95528" y="2395728"/>
            <a:ext cx="3026664" cy="6309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Les recettes sont souvent dispersées entre notes, captures et favoris non structurés.</a:t>
            </a:r>
          </a:p>
        </p:txBody>
      </p:sp>
      <p:sp>
        <p:nvSpPr>
          <p:cNvPr id="8" name="Shape 8"/>
          <p:cNvSpPr/>
          <p:nvPr/>
        </p:nvSpPr>
        <p:spPr>
          <a:xfrm>
            <a:off x="4389120" y="182880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4590288" y="1993392"/>
            <a:ext cx="302666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Solution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590288" y="2395728"/>
            <a:ext cx="3026664" cy="6309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Un espace personnel connecté à Firebase, consultable rapidement depuis mobile.</a:t>
            </a:r>
          </a:p>
        </p:txBody>
      </p:sp>
      <p:sp>
        <p:nvSpPr>
          <p:cNvPr id="11" name="Shape 11"/>
          <p:cNvSpPr/>
          <p:nvPr/>
        </p:nvSpPr>
        <p:spPr>
          <a:xfrm>
            <a:off x="8183879" y="182880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385048" y="1993392"/>
            <a:ext cx="302666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Résultat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385048" y="2395728"/>
            <a:ext cx="3026664" cy="6309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Une base Flutter maintenable, testée, et prête pour une démonstration académique.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77240" y="3794760"/>
            <a:ext cx="557784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700" b="0">
                <a:solidFill>
                  <a:srgbClr val="182026"/>
                </a:solidFill>
                <a:latin typeface="Aptos"/>
              </a:rPr>
              <a:t>• Créer un compte et se connecter</a:t>
            </a:r>
          </a:p>
          <a:p>
            <a:pPr algn="l"/>
            <a:r>
              <a:rPr lang="fr-FR" sz="1700" b="0">
                <a:solidFill>
                  <a:srgbClr val="182026"/>
                </a:solidFill>
                <a:latin typeface="Aptos"/>
              </a:rPr>
              <a:t>• Consulter, rechercher et filtrer les recettes</a:t>
            </a:r>
          </a:p>
          <a:p>
            <a:pPr algn="l"/>
            <a:r>
              <a:rPr lang="fr-FR" sz="1700" b="0">
                <a:solidFill>
                  <a:srgbClr val="182026"/>
                </a:solidFill>
                <a:latin typeface="Aptos"/>
              </a:rPr>
              <a:t>• Ajouter une recette complète</a:t>
            </a:r>
          </a:p>
          <a:p>
            <a:pPr algn="l"/>
            <a:r>
              <a:rPr lang="fr-FR" sz="1700" b="0">
                <a:solidFill>
                  <a:srgbClr val="182026"/>
                </a:solidFill>
                <a:latin typeface="Aptos"/>
              </a:rPr>
              <a:t>• Gérer ses favoris par utilisateur</a:t>
            </a:r>
          </a:p>
        </p:txBody>
      </p:sp>
      <p:sp>
        <p:nvSpPr>
          <p:cNvPr id="15" name="Shape 15"/>
          <p:cNvSpPr/>
          <p:nvPr/>
        </p:nvSpPr>
        <p:spPr>
          <a:xfrm>
            <a:off x="6903720" y="3675887"/>
            <a:ext cx="4206240" cy="17830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7223760" y="3977639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700" b="1">
                <a:solidFill>
                  <a:srgbClr val="182026"/>
                </a:solidFill>
                <a:latin typeface="Aptos"/>
              </a:rPr>
              <a:t>Positionnement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223760" y="4407408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400" b="0">
                <a:solidFill>
                  <a:srgbClr val="5F6B73"/>
                </a:solidFill>
                <a:latin typeface="Aptos"/>
              </a:rPr>
              <a:t>Une application de recettes qui montre autant le produit final que la qualité de l’architecture.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02920" y="6446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800" b="0">
                <a:solidFill>
                  <a:srgbClr val="5F6B73"/>
                </a:solidFill>
                <a:latin typeface="Aptos"/>
              </a:rPr>
              <a:t>Recipe Clean App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fr-FR" sz="800" b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92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000" b="1">
                <a:solidFill>
                  <a:srgbClr val="FF6B35"/>
                </a:solidFill>
                <a:latin typeface="Aptos"/>
              </a:rPr>
              <a:t>PARCOURS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3000" b="1">
                <a:solidFill>
                  <a:srgbClr val="182026"/>
                </a:solidFill>
                <a:latin typeface="Aptos"/>
              </a:rPr>
              <a:t>Parcours utilisateur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11430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400" b="0">
                <a:solidFill>
                  <a:srgbClr val="5F6B73"/>
                </a:solidFill>
                <a:latin typeface="Aptos"/>
              </a:rPr>
              <a:t>Du compte personnel à la consultation des recettes.</a:t>
            </a:r>
          </a:p>
        </p:txBody>
      </p:sp>
      <p:pic>
        <p:nvPicPr>
          <p:cNvPr id="5" name="01-signup.jpeg" descr="01-signup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1926930" cy="4389120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1005840" y="598932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fr-FR" sz="1200" b="1">
                <a:solidFill>
                  <a:srgbClr val="182026"/>
                </a:solidFill>
                <a:latin typeface="Aptos"/>
              </a:rPr>
              <a:t>Inscription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3063240" y="315468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fr-FR" sz="2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pic>
        <p:nvPicPr>
          <p:cNvPr id="8" name="02-login.jpeg" descr="02-logi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08760"/>
            <a:ext cx="1923668" cy="43891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4114800" y="598932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fr-FR" sz="1200" b="1">
                <a:solidFill>
                  <a:srgbClr val="182026"/>
                </a:solidFill>
                <a:latin typeface="Aptos"/>
              </a:rPr>
              <a:t>Connexion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144768" y="315468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fr-FR" sz="2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pic>
        <p:nvPicPr>
          <p:cNvPr id="11" name="03-dashboard-recipes.jpeg" descr="03-dashboard-recip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508760"/>
            <a:ext cx="1923668" cy="438912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7242048" y="598932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fr-FR" sz="1200" b="1">
                <a:solidFill>
                  <a:srgbClr val="182026"/>
                </a:solidFill>
                <a:latin typeface="Aptos"/>
              </a:rPr>
              <a:t>Recettes</a:t>
            </a:r>
          </a:p>
        </p:txBody>
      </p:sp>
      <p:sp>
        <p:nvSpPr>
          <p:cNvPr id="13" name="Shape 13"/>
          <p:cNvSpPr/>
          <p:nvPr/>
        </p:nvSpPr>
        <p:spPr>
          <a:xfrm>
            <a:off x="9464040" y="2194560"/>
            <a:ext cx="2194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9665208" y="2359152"/>
            <a:ext cx="179222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Navigation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665208" y="2761488"/>
            <a:ext cx="1792224" cy="8595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Les écrans secondaires gardent l’historique et affichent un bouton retour cohérent.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02920" y="6446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800" b="0">
                <a:solidFill>
                  <a:srgbClr val="5F6B73"/>
                </a:solidFill>
                <a:latin typeface="Aptos"/>
              </a:rPr>
              <a:t>Recipe Clean App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fr-FR" sz="800" b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92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000" b="1">
                <a:solidFill>
                  <a:srgbClr val="FF6B35"/>
                </a:solidFill>
                <a:latin typeface="Aptos"/>
              </a:rPr>
              <a:t>FONCTIONNALITÉS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3000" b="1">
                <a:solidFill>
                  <a:srgbClr val="182026"/>
                </a:solidFill>
                <a:latin typeface="Aptos"/>
              </a:rPr>
              <a:t>Tableau de bord des recettes</a:t>
            </a:r>
          </a:p>
        </p:txBody>
      </p:sp>
      <p:pic>
        <p:nvPicPr>
          <p:cNvPr id="4" name="03-dashboard-recipes.jpeg" descr="03-dashboard-recip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2144089" cy="489204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3794760" y="1417320"/>
            <a:ext cx="4389120" cy="1600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0">
                <a:solidFill>
                  <a:srgbClr val="182026"/>
                </a:solidFill>
                <a:latin typeface="Aptos"/>
              </a:rPr>
              <a:t>• Liste des recettes depuis Cloud Firestore</a:t>
            </a:r>
          </a:p>
          <a:p>
            <a:pPr algn="l"/>
            <a:r>
              <a:rPr lang="fr-FR" sz="1600" b="0">
                <a:solidFill>
                  <a:srgbClr val="182026"/>
                </a:solidFill>
                <a:latin typeface="Aptos"/>
              </a:rPr>
              <a:t>• Recherche par nom, description ou ingrédient</a:t>
            </a:r>
          </a:p>
          <a:p>
            <a:pPr algn="l"/>
            <a:r>
              <a:rPr lang="fr-FR" sz="1600" b="0">
                <a:solidFill>
                  <a:srgbClr val="182026"/>
                </a:solidFill>
                <a:latin typeface="Aptos"/>
              </a:rPr>
              <a:t>• Filtrage dynamique par catégorie</a:t>
            </a:r>
          </a:p>
          <a:p>
            <a:pPr algn="l"/>
            <a:r>
              <a:rPr lang="fr-FR" sz="1600" b="0">
                <a:solidFill>
                  <a:srgbClr val="182026"/>
                </a:solidFill>
                <a:latin typeface="Aptos"/>
              </a:rPr>
              <a:t>• Accès rapide aux favoris et à l’ajout</a:t>
            </a:r>
          </a:p>
        </p:txBody>
      </p:sp>
      <p:sp>
        <p:nvSpPr>
          <p:cNvPr id="6" name="Shape 6"/>
          <p:cNvSpPr/>
          <p:nvPr/>
        </p:nvSpPr>
        <p:spPr>
          <a:xfrm>
            <a:off x="3840480" y="365760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4041648" y="3822191"/>
            <a:ext cx="192938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Recherche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041648" y="4224528"/>
            <a:ext cx="1929384" cy="402335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Filtre les recettes sans logique Firestore dans l’interface.</a:t>
            </a:r>
          </a:p>
        </p:txBody>
      </p:sp>
      <p:sp>
        <p:nvSpPr>
          <p:cNvPr id="9" name="Shape 9"/>
          <p:cNvSpPr/>
          <p:nvPr/>
        </p:nvSpPr>
        <p:spPr>
          <a:xfrm>
            <a:off x="6446520" y="365760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647688" y="3822191"/>
            <a:ext cx="192938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Catégories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647688" y="4224528"/>
            <a:ext cx="1929384" cy="402335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Les catégories sont calculées depuis les données existantes.</a:t>
            </a:r>
          </a:p>
        </p:txBody>
      </p:sp>
      <p:sp>
        <p:nvSpPr>
          <p:cNvPr id="12" name="Shape 12"/>
          <p:cNvSpPr/>
          <p:nvPr/>
        </p:nvSpPr>
        <p:spPr>
          <a:xfrm>
            <a:off x="9052560" y="365760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253728" y="3822191"/>
            <a:ext cx="192938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Action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253728" y="4224528"/>
            <a:ext cx="1929384" cy="402335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Le bouton Ajouter ouvre le formulaire en conservant le retour.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02920" y="6446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800" b="0">
                <a:solidFill>
                  <a:srgbClr val="5F6B73"/>
                </a:solidFill>
                <a:latin typeface="Aptos"/>
              </a:rPr>
              <a:t>Recipe Clean App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fr-FR" sz="800" b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92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000" b="1">
                <a:solidFill>
                  <a:srgbClr val="FF6B35"/>
                </a:solidFill>
                <a:latin typeface="Aptos"/>
              </a:rPr>
              <a:t>CRÉATION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3000" b="1">
                <a:solidFill>
                  <a:srgbClr val="182026"/>
                </a:solidFill>
                <a:latin typeface="Aptos"/>
              </a:rPr>
              <a:t>Ajout d’une recette complète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77240" y="1417320"/>
            <a:ext cx="4754880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0">
                <a:solidFill>
                  <a:srgbClr val="182026"/>
                </a:solidFill>
                <a:latin typeface="Aptos"/>
              </a:rPr>
              <a:t>• Nom, description, image et catégorie</a:t>
            </a:r>
          </a:p>
          <a:p>
            <a:pPr algn="l"/>
            <a:r>
              <a:rPr lang="fr-FR" sz="1600" b="0">
                <a:solidFill>
                  <a:srgbClr val="182026"/>
                </a:solidFill>
                <a:latin typeface="Aptos"/>
              </a:rPr>
              <a:t>• Difficulté et temps de cuisson</a:t>
            </a:r>
          </a:p>
          <a:p>
            <a:pPr algn="l"/>
            <a:r>
              <a:rPr lang="fr-FR" sz="1600" b="0">
                <a:solidFill>
                  <a:srgbClr val="182026"/>
                </a:solidFill>
                <a:latin typeface="Aptos"/>
              </a:rPr>
              <a:t>• Ingrédients ligne par ligne</a:t>
            </a:r>
          </a:p>
          <a:p>
            <a:pPr algn="l"/>
            <a:r>
              <a:rPr lang="fr-FR" sz="1600" b="0">
                <a:solidFill>
                  <a:srgbClr val="182026"/>
                </a:solidFill>
                <a:latin typeface="Aptos"/>
              </a:rPr>
              <a:t>• Étapes de préparation structurées</a:t>
            </a:r>
          </a:p>
          <a:p>
            <a:pPr algn="l"/>
            <a:r>
              <a:rPr lang="fr-FR" sz="1600" b="0">
                <a:solidFill>
                  <a:srgbClr val="182026"/>
                </a:solidFill>
                <a:latin typeface="Aptos"/>
              </a:rPr>
              <a:t>• Validation avant écriture Firestore</a:t>
            </a:r>
          </a:p>
        </p:txBody>
      </p:sp>
      <p:sp>
        <p:nvSpPr>
          <p:cNvPr id="5" name="Shape 5"/>
          <p:cNvSpPr/>
          <p:nvPr/>
        </p:nvSpPr>
        <p:spPr>
          <a:xfrm>
            <a:off x="777240" y="416052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978408" y="4325112"/>
            <a:ext cx="453542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Données propres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78408" y="4727448"/>
            <a:ext cx="4535424" cy="4480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Les chaînes sont nettoyées avant sauvegarde et une image par défaut est fournie si l’URL est vide.</a:t>
            </a:r>
          </a:p>
        </p:txBody>
      </p:sp>
      <p:pic>
        <p:nvPicPr>
          <p:cNvPr id="8" name="05-create-recipe.jpeg" descr="05-create-recip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868680"/>
            <a:ext cx="2388591" cy="544068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502920" y="6446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800" b="0">
                <a:solidFill>
                  <a:srgbClr val="5F6B73"/>
                </a:solidFill>
                <a:latin typeface="Aptos"/>
              </a:rPr>
              <a:t>Recipe Clean App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fr-FR" sz="800" b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92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000" b="1">
                <a:solidFill>
                  <a:srgbClr val="FF6B35"/>
                </a:solidFill>
                <a:latin typeface="Aptos"/>
              </a:rPr>
              <a:t>FAVORIS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3000" b="1">
                <a:solidFill>
                  <a:srgbClr val="182026"/>
                </a:solidFill>
                <a:latin typeface="Aptos"/>
              </a:rPr>
              <a:t>Favoris et expérience utilisateur</a:t>
            </a:r>
          </a:p>
        </p:txBody>
      </p:sp>
      <p:pic>
        <p:nvPicPr>
          <p:cNvPr id="4" name="04-favorites.jpeg" descr="04-favorit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2063936" cy="470916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3703320" y="15087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3904487" y="1673351"/>
            <a:ext cx="298094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Favoris par utilisateur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3904487" y="2075688"/>
            <a:ext cx="2980944" cy="53949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Chaque utilisateur dispose de sa sous-collection dédiée dans Firestore.</a:t>
            </a:r>
          </a:p>
        </p:txBody>
      </p:sp>
      <p:sp>
        <p:nvSpPr>
          <p:cNvPr id="8" name="Shape 8"/>
          <p:cNvSpPr/>
          <p:nvPr/>
        </p:nvSpPr>
        <p:spPr>
          <a:xfrm>
            <a:off x="7543800" y="15087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7744968" y="1673351"/>
            <a:ext cx="298094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Retour clair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744968" y="2075688"/>
            <a:ext cx="2980944" cy="53949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Les écrans favoris et détails possèdent un bouton retour explicite.</a:t>
            </a:r>
          </a:p>
        </p:txBody>
      </p:sp>
      <p:sp>
        <p:nvSpPr>
          <p:cNvPr id="11" name="Shape 11"/>
          <p:cNvSpPr/>
          <p:nvPr/>
        </p:nvSpPr>
        <p:spPr>
          <a:xfrm>
            <a:off x="3703320" y="315468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3904487" y="3319272"/>
            <a:ext cx="298094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États UI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904487" y="3721608"/>
            <a:ext cx="2980944" cy="53949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Chargement, erreur, vide et retry sont visibles et homogènes.</a:t>
            </a:r>
          </a:p>
        </p:txBody>
      </p:sp>
      <p:sp>
        <p:nvSpPr>
          <p:cNvPr id="14" name="Shape 14"/>
          <p:cNvSpPr/>
          <p:nvPr/>
        </p:nvSpPr>
        <p:spPr>
          <a:xfrm>
            <a:off x="7543800" y="315468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7744968" y="3319272"/>
            <a:ext cx="298094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Flux réactif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744968" y="3721608"/>
            <a:ext cx="2980944" cy="53949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La liste des favoris écoute à la fois les recettes et les favoris.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2920" y="6446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800" b="0">
                <a:solidFill>
                  <a:srgbClr val="5F6B73"/>
                </a:solidFill>
                <a:latin typeface="Aptos"/>
              </a:rPr>
              <a:t>Recipe Clean App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fr-FR" sz="800" b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92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000" b="1">
                <a:solidFill>
                  <a:srgbClr val="FF6B35"/>
                </a:solidFill>
                <a:latin typeface="Aptos"/>
              </a:rPr>
              <a:t>ARCHITECTURE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3000" b="1">
                <a:solidFill>
                  <a:srgbClr val="182026"/>
                </a:solidFill>
                <a:latin typeface="Aptos"/>
              </a:rPr>
              <a:t>Clean Architecture feature-first</a:t>
            </a:r>
          </a:p>
        </p:txBody>
      </p:sp>
      <p:sp>
        <p:nvSpPr>
          <p:cNvPr id="4" name="Shape 4"/>
          <p:cNvSpPr/>
          <p:nvPr/>
        </p:nvSpPr>
        <p:spPr>
          <a:xfrm>
            <a:off x="777240" y="1325880"/>
            <a:ext cx="10607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1051560" y="149047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FF6B35"/>
                </a:solidFill>
                <a:latin typeface="Aptos"/>
              </a:rPr>
              <a:t>Presentation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3657600" y="1508760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400" b="0">
                <a:solidFill>
                  <a:srgbClr val="182026"/>
                </a:solidFill>
                <a:latin typeface="Aptos"/>
              </a:rPr>
              <a:t>Pages Flutter, widgets, Riverpod providers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806440" y="20756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fr-FR" sz="1800" b="1">
                <a:solidFill>
                  <a:srgbClr val="2EC4B6"/>
                </a:solidFill>
                <a:latin typeface="Aptos"/>
              </a:rPr>
              <a:t>↓</a:t>
            </a:r>
          </a:p>
        </p:txBody>
      </p:sp>
      <p:sp>
        <p:nvSpPr>
          <p:cNvPr id="8" name="Shape 8"/>
          <p:cNvSpPr/>
          <p:nvPr/>
        </p:nvSpPr>
        <p:spPr>
          <a:xfrm>
            <a:off x="777240" y="2423160"/>
            <a:ext cx="10607040" cy="77724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51560" y="258775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FF6B35"/>
                </a:solidFill>
                <a:latin typeface="Aptos"/>
              </a:rPr>
              <a:t>Application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657600" y="2606040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400" b="0">
                <a:solidFill>
                  <a:srgbClr val="182026"/>
                </a:solidFill>
                <a:latin typeface="Aptos"/>
              </a:rPr>
              <a:t>Use cases : filtrage, orchestration métier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806440" y="317296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fr-FR" sz="1800" b="1">
                <a:solidFill>
                  <a:srgbClr val="2EC4B6"/>
                </a:solidFill>
                <a:latin typeface="Aptos"/>
              </a:rPr>
              <a:t>↓</a:t>
            </a:r>
          </a:p>
        </p:txBody>
      </p:sp>
      <p:sp>
        <p:nvSpPr>
          <p:cNvPr id="12" name="Shape 12"/>
          <p:cNvSpPr/>
          <p:nvPr/>
        </p:nvSpPr>
        <p:spPr>
          <a:xfrm>
            <a:off x="777240" y="3520439"/>
            <a:ext cx="10607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1051560" y="3685031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FF6B35"/>
                </a:solidFill>
                <a:latin typeface="Aptos"/>
              </a:rPr>
              <a:t>Domain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657600" y="3703320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400" b="0">
                <a:solidFill>
                  <a:srgbClr val="182026"/>
                </a:solidFill>
                <a:latin typeface="Aptos"/>
              </a:rPr>
              <a:t>Entités et contrats repositories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806440" y="427024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fr-FR" sz="1800" b="1">
                <a:solidFill>
                  <a:srgbClr val="2EC4B6"/>
                </a:solidFill>
                <a:latin typeface="Aptos"/>
              </a:rPr>
              <a:t>↓</a:t>
            </a:r>
          </a:p>
        </p:txBody>
      </p:sp>
      <p:sp>
        <p:nvSpPr>
          <p:cNvPr id="16" name="Shape 16"/>
          <p:cNvSpPr/>
          <p:nvPr/>
        </p:nvSpPr>
        <p:spPr>
          <a:xfrm>
            <a:off x="777240" y="4617720"/>
            <a:ext cx="10607040" cy="77724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1051560" y="478231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FF6B35"/>
                </a:solidFill>
                <a:latin typeface="Aptos"/>
              </a:rPr>
              <a:t>Data / Infrastructure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3657600" y="4800600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400" b="0">
                <a:solidFill>
                  <a:srgbClr val="182026"/>
                </a:solidFill>
                <a:latin typeface="Aptos"/>
              </a:rPr>
              <a:t>Firebase Auth, Firestore, models et datasources</a:t>
            </a:r>
          </a:p>
        </p:txBody>
      </p:sp>
      <p:sp>
        <p:nvSpPr>
          <p:cNvPr id="19" name="Shape 19"/>
          <p:cNvSpPr/>
          <p:nvPr/>
        </p:nvSpPr>
        <p:spPr>
          <a:xfrm>
            <a:off x="1005840" y="5715000"/>
            <a:ext cx="9966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1207008" y="5879592"/>
            <a:ext cx="956462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Principe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207008" y="6281928"/>
            <a:ext cx="9564624" cy="-3657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L’interface ne dépend pas directement de Firestore : elle passe par les providers, use cases et repositories.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02920" y="6446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800" b="0">
                <a:solidFill>
                  <a:srgbClr val="5F6B73"/>
                </a:solidFill>
                <a:latin typeface="Aptos"/>
              </a:rPr>
              <a:t>Recipe Clean App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fr-FR" sz="800" b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92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000" b="1">
                <a:solidFill>
                  <a:srgbClr val="FF6B35"/>
                </a:solidFill>
                <a:latin typeface="Aptos"/>
              </a:rPr>
              <a:t>FIREBASE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3000" b="1">
                <a:solidFill>
                  <a:srgbClr val="182026"/>
                </a:solidFill>
                <a:latin typeface="Aptos"/>
              </a:rPr>
              <a:t>Données, sécurité et persistance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141732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1024128" y="158191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users/{userId}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24128" y="1984248"/>
            <a:ext cx="2889504" cy="402335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Profil utilisateur : email, nom complet, date de création.</a:t>
            </a:r>
          </a:p>
        </p:txBody>
      </p:sp>
      <p:sp>
        <p:nvSpPr>
          <p:cNvPr id="7" name="Shape 7"/>
          <p:cNvSpPr/>
          <p:nvPr/>
        </p:nvSpPr>
        <p:spPr>
          <a:xfrm>
            <a:off x="4434840" y="141732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4636007" y="158191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recipes/{recipeId}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636007" y="1984248"/>
            <a:ext cx="2889504" cy="402335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Recette : contenu, propriétaire, timestamps, listes d’ingrédients et étapes.</a:t>
            </a:r>
          </a:p>
        </p:txBody>
      </p:sp>
      <p:sp>
        <p:nvSpPr>
          <p:cNvPr id="10" name="Shape 10"/>
          <p:cNvSpPr/>
          <p:nvPr/>
        </p:nvSpPr>
        <p:spPr>
          <a:xfrm>
            <a:off x="8046720" y="141732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8247888" y="1581912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favorites/{userId}/recipes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47888" y="1984248"/>
            <a:ext cx="2889504" cy="402335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Favoris séparés par utilisateur connecté.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60120" y="3246120"/>
            <a:ext cx="6126480" cy="1600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500" b="0">
                <a:solidFill>
                  <a:srgbClr val="182026"/>
                </a:solidFill>
                <a:latin typeface="Aptos"/>
              </a:rPr>
              <a:t>• Lecture des recettes réservée aux utilisateurs connectés</a:t>
            </a:r>
          </a:p>
          <a:p>
            <a:pPr algn="l"/>
            <a:r>
              <a:rPr lang="fr-FR" sz="1500" b="0">
                <a:solidFill>
                  <a:srgbClr val="182026"/>
                </a:solidFill>
                <a:latin typeface="Aptos"/>
              </a:rPr>
              <a:t>• Création validée champ par champ dans firestore.rules</a:t>
            </a:r>
          </a:p>
          <a:p>
            <a:pPr algn="l"/>
            <a:r>
              <a:rPr lang="fr-FR" sz="1500" b="0">
                <a:solidFill>
                  <a:srgbClr val="182026"/>
                </a:solidFill>
                <a:latin typeface="Aptos"/>
              </a:rPr>
              <a:t>• Modification et suppression limitées au propriétaire</a:t>
            </a:r>
          </a:p>
          <a:p>
            <a:pPr algn="l"/>
            <a:r>
              <a:rPr lang="fr-FR" sz="1500" b="0">
                <a:solidFill>
                  <a:srgbClr val="182026"/>
                </a:solidFill>
                <a:latin typeface="Aptos"/>
              </a:rPr>
              <a:t>• Favoris accessibles uniquement par l’utilisateur concerné</a:t>
            </a:r>
          </a:p>
        </p:txBody>
      </p:sp>
      <p:sp>
        <p:nvSpPr>
          <p:cNvPr id="14" name="Shape 14"/>
          <p:cNvSpPr/>
          <p:nvPr/>
        </p:nvSpPr>
        <p:spPr>
          <a:xfrm>
            <a:off x="7589520" y="3246120"/>
            <a:ext cx="3520440" cy="1417320"/>
          </a:xfrm>
          <a:prstGeom prst="roundRect">
            <a:avLst/>
          </a:prstGeom>
          <a:solidFill>
            <a:srgbClr val="182026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7882127" y="349300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Aptos"/>
              </a:rPr>
              <a:t>Commande règles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882127" y="386791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FFE3D5"/>
                </a:solidFill>
                <a:latin typeface="Consolas"/>
              </a:rPr>
              <a:t>firebase deploy --only</a:t>
            </a:r>
          </a:p>
          <a:p>
            <a:pPr algn="l"/>
            <a:r>
              <a:rPr lang="fr-FR" sz="1200" b="0">
                <a:solidFill>
                  <a:srgbClr val="FFE3D5"/>
                </a:solidFill>
                <a:latin typeface="Consolas"/>
              </a:rPr>
              <a:t>firestore:rules --project login-d11f5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2920" y="6446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800" b="0">
                <a:solidFill>
                  <a:srgbClr val="5F6B73"/>
                </a:solidFill>
                <a:latin typeface="Aptos"/>
              </a:rPr>
              <a:t>Recipe Clean App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fr-FR" sz="800" b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92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000" b="1">
                <a:solidFill>
                  <a:srgbClr val="FF6B35"/>
                </a:solidFill>
                <a:latin typeface="Aptos"/>
              </a:rPr>
              <a:t>QUALITÉ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3000" b="1">
                <a:solidFill>
                  <a:srgbClr val="182026"/>
                </a:solidFill>
                <a:latin typeface="Aptos"/>
              </a:rPr>
              <a:t>Clean code et vérifications</a:t>
            </a:r>
          </a:p>
        </p:txBody>
      </p:sp>
      <p:sp>
        <p:nvSpPr>
          <p:cNvPr id="4" name="Shape 4"/>
          <p:cNvSpPr/>
          <p:nvPr/>
        </p:nvSpPr>
        <p:spPr>
          <a:xfrm>
            <a:off x="777240" y="141732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978408" y="1581912"/>
            <a:ext cx="293522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SOLID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78408" y="1984248"/>
            <a:ext cx="2935224" cy="53949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Responsabilités séparées entre pages, providers, use cases et repositories.</a:t>
            </a:r>
          </a:p>
        </p:txBody>
      </p:sp>
      <p:sp>
        <p:nvSpPr>
          <p:cNvPr id="7" name="Shape 7"/>
          <p:cNvSpPr/>
          <p:nvPr/>
        </p:nvSpPr>
        <p:spPr>
          <a:xfrm>
            <a:off x="4434840" y="141732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4636007" y="1581912"/>
            <a:ext cx="293522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Navigation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636007" y="1984248"/>
            <a:ext cx="2935224" cy="53949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Routes centralisées et bouton retour réutilisable.</a:t>
            </a:r>
          </a:p>
        </p:txBody>
      </p:sp>
      <p:sp>
        <p:nvSpPr>
          <p:cNvPr id="10" name="Shape 10"/>
          <p:cNvSpPr/>
          <p:nvPr/>
        </p:nvSpPr>
        <p:spPr>
          <a:xfrm>
            <a:off x="8092440" y="141732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8293608" y="1581912"/>
            <a:ext cx="293522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Tests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93608" y="1984248"/>
            <a:ext cx="2935224" cy="53949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Tests unitaires, widget test et modèle Firestore couverts.</a:t>
            </a:r>
          </a:p>
        </p:txBody>
      </p:sp>
      <p:sp>
        <p:nvSpPr>
          <p:cNvPr id="13" name="Shape 13"/>
          <p:cNvSpPr/>
          <p:nvPr/>
        </p:nvSpPr>
        <p:spPr>
          <a:xfrm>
            <a:off x="1005840" y="3474720"/>
            <a:ext cx="10058400" cy="1234440"/>
          </a:xfrm>
          <a:prstGeom prst="roundRect">
            <a:avLst/>
          </a:prstGeom>
          <a:solidFill>
            <a:srgbClr val="182026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325880" y="37307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Aptos"/>
              </a:rPr>
              <a:t>Résultat de vérification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4572000" y="3639312"/>
            <a:ext cx="53035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300" b="0">
                <a:solidFill>
                  <a:srgbClr val="FFE3D5"/>
                </a:solidFill>
                <a:latin typeface="Consolas"/>
              </a:rPr>
              <a:t>dart format lib test</a:t>
            </a:r>
          </a:p>
          <a:p>
            <a:pPr algn="l"/>
            <a:r>
              <a:rPr lang="fr-FR" sz="1300" b="0">
                <a:solidFill>
                  <a:srgbClr val="FFE3D5"/>
                </a:solidFill>
                <a:latin typeface="Consolas"/>
              </a:rPr>
              <a:t>flutter analyze  → No issues found</a:t>
            </a:r>
          </a:p>
          <a:p>
            <a:pPr algn="l"/>
            <a:r>
              <a:rPr lang="fr-FR" sz="1300" b="0">
                <a:solidFill>
                  <a:srgbClr val="FFE3D5"/>
                </a:solidFill>
                <a:latin typeface="Consolas"/>
              </a:rPr>
              <a:t>flutter test     → All tests passed</a:t>
            </a:r>
          </a:p>
        </p:txBody>
      </p:sp>
      <p:sp>
        <p:nvSpPr>
          <p:cNvPr id="16" name="Shape 16"/>
          <p:cNvSpPr/>
          <p:nvPr/>
        </p:nvSpPr>
        <p:spPr>
          <a:xfrm>
            <a:off x="1828800" y="5257800"/>
            <a:ext cx="8503920" cy="82296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F2D4C6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2029968" y="5422392"/>
            <a:ext cx="8101584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600" b="1">
                <a:solidFill>
                  <a:srgbClr val="182026"/>
                </a:solidFill>
                <a:latin typeface="Aptos"/>
              </a:rPr>
              <a:t>Point d’attention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2029968" y="5824728"/>
            <a:ext cx="8101584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200" b="0">
                <a:solidFill>
                  <a:srgbClr val="5F6B73"/>
                </a:solidFill>
                <a:latin typeface="Aptos"/>
              </a:rPr>
              <a:t>Le téléphone affichera permission-denied tant que les règles corrigées ne sont pas publiées dans Firebase.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02920" y="6446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800" b="0">
                <a:solidFill>
                  <a:srgbClr val="5F6B73"/>
                </a:solidFill>
                <a:latin typeface="Aptos"/>
              </a:rPr>
              <a:t>Recipe Clean App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fr-FR" sz="800" b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0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777240" y="82296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Aptos"/>
              </a:rPr>
              <a:t>Scénario de démonstration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14400" y="1828800"/>
            <a:ext cx="6629400" cy="21488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700" b="0">
                <a:solidFill>
                  <a:srgbClr val="FFFFFF"/>
                </a:solidFill>
                <a:latin typeface="Aptos"/>
              </a:rPr>
              <a:t>• Créer un compte utilisateur</a:t>
            </a:r>
          </a:p>
          <a:p>
            <a:pPr algn="l"/>
            <a:r>
              <a:rPr lang="fr-FR" sz="1700" b="0">
                <a:solidFill>
                  <a:srgbClr val="FFFFFF"/>
                </a:solidFill>
                <a:latin typeface="Aptos"/>
              </a:rPr>
              <a:t>• Se connecter et afficher le tableau de bord</a:t>
            </a:r>
          </a:p>
          <a:p>
            <a:pPr algn="l"/>
            <a:r>
              <a:rPr lang="fr-FR" sz="1700" b="0">
                <a:solidFill>
                  <a:srgbClr val="FFFFFF"/>
                </a:solidFill>
                <a:latin typeface="Aptos"/>
              </a:rPr>
              <a:t>• Rechercher une recette et filtrer par catégorie</a:t>
            </a:r>
          </a:p>
          <a:p>
            <a:pPr algn="l"/>
            <a:r>
              <a:rPr lang="fr-FR" sz="1700" b="0">
                <a:solidFill>
                  <a:srgbClr val="FFFFFF"/>
                </a:solidFill>
                <a:latin typeface="Aptos"/>
              </a:rPr>
              <a:t>• Ajouter une nouvelle recette complète</a:t>
            </a:r>
          </a:p>
          <a:p>
            <a:pPr algn="l"/>
            <a:r>
              <a:rPr lang="fr-FR" sz="1700" b="0">
                <a:solidFill>
                  <a:srgbClr val="FFFFFF"/>
                </a:solidFill>
                <a:latin typeface="Aptos"/>
              </a:rPr>
              <a:t>• Marquer une recette comme favorite</a:t>
            </a:r>
          </a:p>
          <a:p>
            <a:pPr algn="l"/>
            <a:r>
              <a:rPr lang="fr-FR" sz="1700" b="0">
                <a:solidFill>
                  <a:srgbClr val="FFFFFF"/>
                </a:solidFill>
                <a:latin typeface="Aptos"/>
              </a:rPr>
              <a:t>• Revenir aux écrans précédents avec les boutons retour</a:t>
            </a:r>
          </a:p>
        </p:txBody>
      </p:sp>
      <p:sp>
        <p:nvSpPr>
          <p:cNvPr id="5" name="Shape 5"/>
          <p:cNvSpPr/>
          <p:nvPr/>
        </p:nvSpPr>
        <p:spPr>
          <a:xfrm>
            <a:off x="8046720" y="1417320"/>
            <a:ext cx="3017520" cy="32918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8394192" y="1828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2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4192" y="2395728"/>
            <a:ext cx="2331720" cy="9601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1700" b="0">
                <a:solidFill>
                  <a:srgbClr val="FFFFFF"/>
                </a:solidFill>
                <a:latin typeface="Aptos"/>
              </a:rPr>
              <a:t>Une app complète, lisible, testée, et structurée pour évoluer.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394192" y="38862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fr-FR" sz="2200" b="1">
                <a:solidFill>
                  <a:srgbClr val="FFFFFF"/>
                </a:solidFill>
                <a:latin typeface="Aptos"/>
              </a:rPr>
              <a:t>Merci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ipe Clean Theme">
  <a:themeElements>
    <a:clrScheme name="Recipe">
      <a:dk1>
        <a:srgbClr val="182026"/>
      </a:dk1>
      <a:lt1>
        <a:srgbClr val="FFF8F2"/>
      </a:lt1>
      <a:dk2>
        <a:srgbClr val="1F2933"/>
      </a:dk2>
      <a:lt2>
        <a:srgbClr val="FFFFFF"/>
      </a:lt2>
      <a:accent1>
        <a:srgbClr val="FF6B35"/>
      </a:accent1>
      <a:accent2>
        <a:srgbClr val="2EC4B6"/>
      </a:accent2>
      <a:accent3>
        <a:srgbClr val="FFE3D5"/>
      </a:accent3>
      <a:accent4>
        <a:srgbClr val="FFD166"/>
      </a:accent4>
      <a:accent5>
        <a:srgbClr val="5F6B73"/>
      </a:accent5>
      <a:accent6>
        <a:srgbClr val="8D99AE"/>
      </a:accent6>
      <a:hlink>
        <a:srgbClr val="0563C1"/>
      </a:hlink>
      <a:folHlink>
        <a:srgbClr val="954F72"/>
      </a:folHlink>
    </a:clrScheme>
    <a:fontScheme name="Recipe Fonts">
      <a:majorFont>
        <a:latin typeface="Aptos Display"/>
      </a:majorFont>
      <a:minorFont>
        <a:latin typeface="Aptos"/>
      </a:minorFont>
    </a:fontScheme>
    <a:fmtScheme name="Recipe Format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10</Slides>
  <Notes>0</Notes>
  <Company>JeeriDev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Recipe Clean App - Présentation</dc:title>
  <dc:subject>Présentation de l'application mobile Flutter</dc:subject>
  <dc:creator>JeeriDev</dc:creator>
  <cp:lastModifiedBy>Codex</cp:lastModifiedBy>
  <dcterms:created xsi:type="dcterms:W3CDTF">2026-06-14T20:01:59Z</dcterms:created>
  <dcterms:modified xsi:type="dcterms:W3CDTF">2026-06-14T20:01:59Z</dcterms:modified>
</cp:coreProperties>
</file>